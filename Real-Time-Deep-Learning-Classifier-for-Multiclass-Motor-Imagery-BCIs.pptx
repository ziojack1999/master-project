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Roboto" panose="02000000000000000000" pitchFamily="2" charset="0"/>
      <p:regular r:id="rId8"/>
      <p:bold r:id="rId9"/>
    </p:embeddedFont>
    <p:embeddedFont>
      <p:font typeface="Roboto Light" panose="02000000000000000000" pitchFamily="2" charset="0"/>
      <p:regular r:id="rId10"/>
      <p:italic r:id="rId11"/>
    </p:embeddedFont>
    <p:embeddedFont>
      <p:font typeface="Roboto Medium" panose="02000000000000000000" pitchFamily="2"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923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40C"/>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Real-Time Deep Learning Classifier for Multiclass Motor Imagery BCIs</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b="1" dirty="0">
                <a:solidFill>
                  <a:srgbClr val="CFD0D8"/>
                </a:solidFill>
                <a:latin typeface="Roboto" pitchFamily="34" charset="0"/>
                <a:ea typeface="Roboto" pitchFamily="34" charset="-122"/>
                <a:cs typeface="Roboto" pitchFamily="34" charset="-120"/>
              </a:rPr>
              <a:t>Presenter:</a:t>
            </a:r>
            <a:r>
              <a:rPr lang="en-US" sz="1750" dirty="0">
                <a:solidFill>
                  <a:srgbClr val="CFD0D8"/>
                </a:solidFill>
                <a:latin typeface="Roboto" pitchFamily="34" charset="0"/>
                <a:ea typeface="Roboto" pitchFamily="34" charset="-122"/>
                <a:cs typeface="Roboto" pitchFamily="34" charset="-120"/>
              </a:rPr>
              <a:t> Giacomo Albergo | </a:t>
            </a:r>
            <a:r>
              <a:rPr lang="en-US" sz="1750" b="1" dirty="0">
                <a:solidFill>
                  <a:srgbClr val="CFD0D8"/>
                </a:solidFill>
                <a:latin typeface="Roboto" pitchFamily="34" charset="0"/>
                <a:ea typeface="Roboto" pitchFamily="34" charset="-122"/>
                <a:cs typeface="Roboto" pitchFamily="34" charset="-120"/>
              </a:rPr>
              <a:t>Advisor:</a:t>
            </a:r>
            <a:r>
              <a:rPr lang="en-US" sz="1750" dirty="0">
                <a:solidFill>
                  <a:srgbClr val="CFD0D8"/>
                </a:solidFill>
                <a:latin typeface="Roboto" pitchFamily="34" charset="0"/>
                <a:ea typeface="Roboto" pitchFamily="34" charset="-122"/>
                <a:cs typeface="Roboto" pitchFamily="34" charset="-120"/>
              </a:rPr>
              <a:t> Dr. Abhishek Prasad | </a:t>
            </a:r>
            <a:r>
              <a:rPr lang="en-US" sz="1750" b="1" dirty="0">
                <a:solidFill>
                  <a:srgbClr val="CFD0D8"/>
                </a:solidFill>
                <a:latin typeface="Roboto" pitchFamily="34" charset="0"/>
                <a:ea typeface="Roboto" pitchFamily="34" charset="-122"/>
                <a:cs typeface="Roboto" pitchFamily="34" charset="-120"/>
              </a:rPr>
              <a:t>Course:</a:t>
            </a:r>
            <a:r>
              <a:rPr lang="en-US" sz="1750" dirty="0">
                <a:solidFill>
                  <a:srgbClr val="CFD0D8"/>
                </a:solidFill>
                <a:latin typeface="Roboto" pitchFamily="34" charset="0"/>
                <a:ea typeface="Roboto" pitchFamily="34" charset="-122"/>
                <a:cs typeface="Roboto" pitchFamily="34" charset="-120"/>
              </a:rPr>
              <a:t> BME 707</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93790" y="925354"/>
            <a:ext cx="7389852"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Background and Significance</a:t>
            </a:r>
            <a:endParaRPr lang="en-US" sz="4450" dirty="0"/>
          </a:p>
        </p:txBody>
      </p:sp>
      <p:sp>
        <p:nvSpPr>
          <p:cNvPr id="3" name="Text 1"/>
          <p:cNvSpPr/>
          <p:nvPr/>
        </p:nvSpPr>
        <p:spPr>
          <a:xfrm>
            <a:off x="793790" y="2178368"/>
            <a:ext cx="4205168" cy="217741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Motor imagery Brain-Computer Interfaces show significant promise in neurorehabilitation and assistive technology. However, a critical challenge stands still: achieving high decoding accuracy in multiclass scenarios.</a:t>
            </a:r>
            <a:endParaRPr lang="en-US" sz="1750" dirty="0"/>
          </a:p>
        </p:txBody>
      </p:sp>
      <p:sp>
        <p:nvSpPr>
          <p:cNvPr id="4" name="Text 2"/>
          <p:cNvSpPr/>
          <p:nvPr/>
        </p:nvSpPr>
        <p:spPr>
          <a:xfrm>
            <a:off x="793790" y="4559856"/>
            <a:ext cx="4205168" cy="2540318"/>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While binary classifications (e.g., left vs. right hand movements) show success, transitioning to complex functional tasks remains highly difficult. This research bridges the gap between theoretical deep learning capacity and practical, high-accuracy BCI control.</a:t>
            </a:r>
            <a:endParaRPr lang="en-US" sz="1750" dirty="0"/>
          </a:p>
        </p:txBody>
      </p:sp>
      <p:pic>
        <p:nvPicPr>
          <p:cNvPr id="5" name="Image 0" descr="preencoded.png"/>
          <p:cNvPicPr>
            <a:picLocks noChangeAspect="1"/>
          </p:cNvPicPr>
          <p:nvPr/>
        </p:nvPicPr>
        <p:blipFill>
          <a:blip r:embed="rId3"/>
          <a:stretch>
            <a:fillRect/>
          </a:stretch>
        </p:blipFill>
        <p:spPr>
          <a:xfrm>
            <a:off x="5559981" y="2327434"/>
            <a:ext cx="8284131" cy="46236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9350" y="822841"/>
            <a:ext cx="5306973" cy="663297"/>
          </a:xfrm>
          <a:prstGeom prst="rect">
            <a:avLst/>
          </a:prstGeom>
          <a:noFill/>
          <a:ln/>
        </p:spPr>
        <p:txBody>
          <a:bodyPr wrap="none" lIns="0" tIns="0" rIns="0" bIns="0" rtlCol="0" anchor="t"/>
          <a:lstStyle/>
          <a:p>
            <a:pPr marL="0" indent="0" algn="l">
              <a:lnSpc>
                <a:spcPts val="5200"/>
              </a:lnSpc>
              <a:buNone/>
            </a:pPr>
            <a:r>
              <a:rPr lang="en-US" sz="4150" dirty="0">
                <a:solidFill>
                  <a:srgbClr val="FFFFFF"/>
                </a:solidFill>
                <a:latin typeface="Roboto Medium" pitchFamily="34" charset="0"/>
                <a:ea typeface="Roboto Medium" pitchFamily="34" charset="-122"/>
                <a:cs typeface="Roboto Medium" pitchFamily="34" charset="-120"/>
              </a:rPr>
              <a:t>Project Goals</a:t>
            </a:r>
            <a:endParaRPr lang="en-US" sz="4150" dirty="0"/>
          </a:p>
        </p:txBody>
      </p:sp>
      <p:sp>
        <p:nvSpPr>
          <p:cNvPr id="4" name="Shape 1"/>
          <p:cNvSpPr/>
          <p:nvPr/>
        </p:nvSpPr>
        <p:spPr>
          <a:xfrm>
            <a:off x="6229350" y="1784033"/>
            <a:ext cx="3729752" cy="3040737"/>
          </a:xfrm>
          <a:prstGeom prst="roundRect">
            <a:avLst>
              <a:gd name="adj" fmla="val 2932"/>
            </a:avLst>
          </a:prstGeom>
          <a:solidFill>
            <a:srgbClr val="182567"/>
          </a:solidFill>
          <a:ln w="7620">
            <a:solidFill>
              <a:srgbClr val="313E80"/>
            </a:solidFill>
            <a:prstDash val="solid"/>
          </a:ln>
        </p:spPr>
        <p:txBody>
          <a:bodyPr/>
          <a:lstStyle/>
          <a:p>
            <a:endParaRPr lang="en-US"/>
          </a:p>
        </p:txBody>
      </p:sp>
      <p:sp>
        <p:nvSpPr>
          <p:cNvPr id="5" name="Shape 2"/>
          <p:cNvSpPr/>
          <p:nvPr/>
        </p:nvSpPr>
        <p:spPr>
          <a:xfrm>
            <a:off x="6449139" y="2003822"/>
            <a:ext cx="636746" cy="636746"/>
          </a:xfrm>
          <a:prstGeom prst="roundRect">
            <a:avLst>
              <a:gd name="adj" fmla="val 14359078"/>
            </a:avLst>
          </a:prstGeom>
          <a:solidFill>
            <a:srgbClr val="5A6ED8"/>
          </a:solidFill>
          <a:ln/>
        </p:spPr>
        <p:txBody>
          <a:bodyPr/>
          <a:lstStyle/>
          <a:p>
            <a:endParaRPr lang="en-US"/>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24280" y="2178963"/>
            <a:ext cx="286464" cy="286464"/>
          </a:xfrm>
          <a:prstGeom prst="rect">
            <a:avLst/>
          </a:prstGeom>
        </p:spPr>
      </p:pic>
      <p:sp>
        <p:nvSpPr>
          <p:cNvPr id="7" name="Text 3"/>
          <p:cNvSpPr/>
          <p:nvPr/>
        </p:nvSpPr>
        <p:spPr>
          <a:xfrm>
            <a:off x="6449139" y="2839164"/>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Roboto Medium" pitchFamily="34" charset="0"/>
                <a:ea typeface="Roboto Medium" pitchFamily="34" charset="-122"/>
                <a:cs typeface="Roboto Medium" pitchFamily="34" charset="-120"/>
              </a:rPr>
              <a:t>Primary Objective</a:t>
            </a:r>
            <a:endParaRPr lang="en-US" sz="2050" dirty="0"/>
          </a:p>
        </p:txBody>
      </p:sp>
      <p:sp>
        <p:nvSpPr>
          <p:cNvPr id="8" name="Text 4"/>
          <p:cNvSpPr/>
          <p:nvPr/>
        </p:nvSpPr>
        <p:spPr>
          <a:xfrm>
            <a:off x="6449139" y="3290054"/>
            <a:ext cx="3290173" cy="1314926"/>
          </a:xfrm>
          <a:prstGeom prst="rect">
            <a:avLst/>
          </a:prstGeom>
          <a:noFill/>
          <a:ln/>
        </p:spPr>
        <p:txBody>
          <a:bodyPr wrap="square" lIns="0" tIns="0" rIns="0" bIns="0" rtlCol="0" anchor="t"/>
          <a:lstStyle/>
          <a:p>
            <a:pPr marL="0" indent="0" algn="l">
              <a:lnSpc>
                <a:spcPts val="2550"/>
              </a:lnSpc>
              <a:buNone/>
            </a:pPr>
            <a:r>
              <a:rPr lang="en-US" sz="1650" dirty="0">
                <a:solidFill>
                  <a:srgbClr val="CFD0D8"/>
                </a:solidFill>
                <a:latin typeface="Roboto" pitchFamily="34" charset="0"/>
                <a:ea typeface="Roboto" pitchFamily="34" charset="-122"/>
                <a:cs typeface="Roboto" pitchFamily="34" charset="-120"/>
              </a:rPr>
              <a:t>Develop a robust deep learning classifier for real-time decoding of nine distinct hand movements using EEG signals.</a:t>
            </a:r>
            <a:endParaRPr lang="en-US" sz="1650" dirty="0"/>
          </a:p>
        </p:txBody>
      </p:sp>
      <p:sp>
        <p:nvSpPr>
          <p:cNvPr id="9" name="Shape 5"/>
          <p:cNvSpPr/>
          <p:nvPr/>
        </p:nvSpPr>
        <p:spPr>
          <a:xfrm>
            <a:off x="10157698" y="1784033"/>
            <a:ext cx="3729752" cy="3040737"/>
          </a:xfrm>
          <a:prstGeom prst="roundRect">
            <a:avLst>
              <a:gd name="adj" fmla="val 2932"/>
            </a:avLst>
          </a:prstGeom>
          <a:solidFill>
            <a:srgbClr val="182567"/>
          </a:solidFill>
          <a:ln w="7620">
            <a:solidFill>
              <a:srgbClr val="313E80"/>
            </a:solidFill>
            <a:prstDash val="solid"/>
          </a:ln>
        </p:spPr>
        <p:txBody>
          <a:bodyPr/>
          <a:lstStyle/>
          <a:p>
            <a:endParaRPr lang="en-US"/>
          </a:p>
        </p:txBody>
      </p:sp>
      <p:sp>
        <p:nvSpPr>
          <p:cNvPr id="10" name="Shape 6"/>
          <p:cNvSpPr/>
          <p:nvPr/>
        </p:nvSpPr>
        <p:spPr>
          <a:xfrm>
            <a:off x="10377487" y="2003822"/>
            <a:ext cx="636746" cy="636746"/>
          </a:xfrm>
          <a:prstGeom prst="roundRect">
            <a:avLst>
              <a:gd name="adj" fmla="val 14359078"/>
            </a:avLst>
          </a:prstGeom>
          <a:solidFill>
            <a:srgbClr val="5A6ED8"/>
          </a:solidFill>
          <a:ln/>
        </p:spPr>
        <p:txBody>
          <a:bodyPr/>
          <a:lstStyle/>
          <a:p>
            <a:endParaRPr lang="en-US"/>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2628" y="2178963"/>
            <a:ext cx="286464" cy="286464"/>
          </a:xfrm>
          <a:prstGeom prst="rect">
            <a:avLst/>
          </a:prstGeom>
        </p:spPr>
      </p:pic>
      <p:sp>
        <p:nvSpPr>
          <p:cNvPr id="12" name="Text 7"/>
          <p:cNvSpPr/>
          <p:nvPr/>
        </p:nvSpPr>
        <p:spPr>
          <a:xfrm>
            <a:off x="10377487" y="2839164"/>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Roboto Medium" pitchFamily="34" charset="0"/>
                <a:ea typeface="Roboto Medium" pitchFamily="34" charset="-122"/>
                <a:cs typeface="Roboto Medium" pitchFamily="34" charset="-120"/>
              </a:rPr>
              <a:t>Classification Model</a:t>
            </a:r>
            <a:endParaRPr lang="en-US" sz="2050" dirty="0"/>
          </a:p>
        </p:txBody>
      </p:sp>
      <p:sp>
        <p:nvSpPr>
          <p:cNvPr id="13" name="Text 8"/>
          <p:cNvSpPr/>
          <p:nvPr/>
        </p:nvSpPr>
        <p:spPr>
          <a:xfrm>
            <a:off x="10377487" y="3290054"/>
            <a:ext cx="3290173" cy="1314926"/>
          </a:xfrm>
          <a:prstGeom prst="rect">
            <a:avLst/>
          </a:prstGeom>
          <a:noFill/>
          <a:ln/>
        </p:spPr>
        <p:txBody>
          <a:bodyPr wrap="square" lIns="0" tIns="0" rIns="0" bIns="0" rtlCol="0" anchor="t"/>
          <a:lstStyle/>
          <a:p>
            <a:pPr marL="0" indent="0" algn="l">
              <a:lnSpc>
                <a:spcPts val="2550"/>
              </a:lnSpc>
              <a:buNone/>
            </a:pPr>
            <a:r>
              <a:rPr lang="en-US" sz="1650" dirty="0">
                <a:solidFill>
                  <a:srgbClr val="CFD0D8"/>
                </a:solidFill>
                <a:latin typeface="Roboto" pitchFamily="34" charset="0"/>
                <a:ea typeface="Roboto" pitchFamily="34" charset="-122"/>
                <a:cs typeface="Roboto" pitchFamily="34" charset="-120"/>
              </a:rPr>
              <a:t>Establish high-accuracy multiclass classification by overcoming overfitting issues in standard neural network architectures.</a:t>
            </a:r>
            <a:endParaRPr lang="en-US" sz="1650" dirty="0"/>
          </a:p>
        </p:txBody>
      </p:sp>
      <p:sp>
        <p:nvSpPr>
          <p:cNvPr id="14" name="Shape 9"/>
          <p:cNvSpPr/>
          <p:nvPr/>
        </p:nvSpPr>
        <p:spPr>
          <a:xfrm>
            <a:off x="6229350" y="5023366"/>
            <a:ext cx="7658100" cy="2383274"/>
          </a:xfrm>
          <a:prstGeom prst="roundRect">
            <a:avLst>
              <a:gd name="adj" fmla="val 3741"/>
            </a:avLst>
          </a:prstGeom>
          <a:solidFill>
            <a:srgbClr val="182567"/>
          </a:solidFill>
          <a:ln w="7620">
            <a:solidFill>
              <a:srgbClr val="313E80"/>
            </a:solidFill>
            <a:prstDash val="solid"/>
          </a:ln>
        </p:spPr>
        <p:txBody>
          <a:bodyPr/>
          <a:lstStyle/>
          <a:p>
            <a:endParaRPr lang="en-US"/>
          </a:p>
        </p:txBody>
      </p:sp>
      <p:sp>
        <p:nvSpPr>
          <p:cNvPr id="15" name="Shape 10"/>
          <p:cNvSpPr/>
          <p:nvPr/>
        </p:nvSpPr>
        <p:spPr>
          <a:xfrm>
            <a:off x="6449139" y="5243155"/>
            <a:ext cx="636746" cy="636746"/>
          </a:xfrm>
          <a:prstGeom prst="roundRect">
            <a:avLst>
              <a:gd name="adj" fmla="val 14359078"/>
            </a:avLst>
          </a:prstGeom>
          <a:solidFill>
            <a:srgbClr val="5A6ED8"/>
          </a:solidFill>
          <a:ln/>
        </p:spPr>
        <p:txBody>
          <a:bodyPr/>
          <a:lstStyle/>
          <a:p>
            <a:endParaRPr lang="en-US"/>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24280" y="5418296"/>
            <a:ext cx="286464" cy="286464"/>
          </a:xfrm>
          <a:prstGeom prst="rect">
            <a:avLst/>
          </a:prstGeom>
        </p:spPr>
      </p:pic>
      <p:sp>
        <p:nvSpPr>
          <p:cNvPr id="17" name="Text 11"/>
          <p:cNvSpPr/>
          <p:nvPr/>
        </p:nvSpPr>
        <p:spPr>
          <a:xfrm>
            <a:off x="6449139" y="6078498"/>
            <a:ext cx="2653427" cy="331708"/>
          </a:xfrm>
          <a:prstGeom prst="rect">
            <a:avLst/>
          </a:prstGeom>
          <a:noFill/>
          <a:ln/>
        </p:spPr>
        <p:txBody>
          <a:bodyPr wrap="none" lIns="0" tIns="0" rIns="0" bIns="0" rtlCol="0" anchor="t"/>
          <a:lstStyle/>
          <a:p>
            <a:pPr marL="0" indent="0" algn="l">
              <a:lnSpc>
                <a:spcPts val="2600"/>
              </a:lnSpc>
              <a:buNone/>
            </a:pPr>
            <a:r>
              <a:rPr lang="en-US" sz="2050" dirty="0">
                <a:solidFill>
                  <a:srgbClr val="CFD0D8"/>
                </a:solidFill>
                <a:latin typeface="Roboto Medium" pitchFamily="34" charset="0"/>
                <a:ea typeface="Roboto Medium" pitchFamily="34" charset="-122"/>
                <a:cs typeface="Roboto Medium" pitchFamily="34" charset="-120"/>
              </a:rPr>
              <a:t>Signal Analysis</a:t>
            </a:r>
            <a:endParaRPr lang="en-US" sz="2050" dirty="0"/>
          </a:p>
        </p:txBody>
      </p:sp>
      <p:sp>
        <p:nvSpPr>
          <p:cNvPr id="18" name="Text 12"/>
          <p:cNvSpPr/>
          <p:nvPr/>
        </p:nvSpPr>
        <p:spPr>
          <a:xfrm>
            <a:off x="6449139" y="6529387"/>
            <a:ext cx="7218521" cy="657463"/>
          </a:xfrm>
          <a:prstGeom prst="rect">
            <a:avLst/>
          </a:prstGeom>
          <a:noFill/>
          <a:ln/>
        </p:spPr>
        <p:txBody>
          <a:bodyPr wrap="square" lIns="0" tIns="0" rIns="0" bIns="0" rtlCol="0" anchor="t"/>
          <a:lstStyle/>
          <a:p>
            <a:pPr marL="0" indent="0" algn="l">
              <a:lnSpc>
                <a:spcPts val="2550"/>
              </a:lnSpc>
              <a:buNone/>
            </a:pPr>
            <a:r>
              <a:rPr lang="en-US" sz="1650" dirty="0">
                <a:solidFill>
                  <a:srgbClr val="CFD0D8"/>
                </a:solidFill>
                <a:latin typeface="Roboto" pitchFamily="34" charset="0"/>
                <a:ea typeface="Roboto" pitchFamily="34" charset="-122"/>
                <a:cs typeface="Roboto" pitchFamily="34" charset="-120"/>
              </a:rPr>
              <a:t>Analyze relationships between non-invasive EEG and invasive ECoG to inform feature extraction strategies.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107084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Proposed Plan</a:t>
            </a:r>
            <a:endParaRPr lang="en-US" sz="4450" dirty="0"/>
          </a:p>
        </p:txBody>
      </p:sp>
      <p:sp>
        <p:nvSpPr>
          <p:cNvPr id="3" name="Text 1"/>
          <p:cNvSpPr/>
          <p:nvPr/>
        </p:nvSpPr>
        <p:spPr>
          <a:xfrm>
            <a:off x="793790" y="211978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Implementing a comprehensive neural network pipeline within a Python-based environment using BIDS standard for reproducibility.</a:t>
            </a:r>
            <a:endParaRPr lang="en-US" sz="1750" dirty="0"/>
          </a:p>
        </p:txBody>
      </p:sp>
      <p:sp>
        <p:nvSpPr>
          <p:cNvPr id="4" name="Text 2"/>
          <p:cNvSpPr/>
          <p:nvPr/>
        </p:nvSpPr>
        <p:spPr>
          <a:xfrm>
            <a:off x="793790" y="310074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Light" pitchFamily="34" charset="0"/>
                <a:ea typeface="Roboto Light" pitchFamily="34" charset="-122"/>
                <a:cs typeface="Roboto Light" pitchFamily="34" charset="-120"/>
              </a:rPr>
              <a:t>01</a:t>
            </a:r>
            <a:endParaRPr lang="en-US" sz="1750" dirty="0"/>
          </a:p>
        </p:txBody>
      </p:sp>
      <p:sp>
        <p:nvSpPr>
          <p:cNvPr id="5" name="Shape 3"/>
          <p:cNvSpPr/>
          <p:nvPr/>
        </p:nvSpPr>
        <p:spPr>
          <a:xfrm>
            <a:off x="793790" y="3455789"/>
            <a:ext cx="6407944" cy="30480"/>
          </a:xfrm>
          <a:prstGeom prst="rect">
            <a:avLst/>
          </a:prstGeom>
          <a:solidFill>
            <a:srgbClr val="5A6ED8"/>
          </a:solidFill>
          <a:ln/>
        </p:spPr>
        <p:txBody>
          <a:bodyPr/>
          <a:lstStyle/>
          <a:p>
            <a:endParaRPr lang="en-US"/>
          </a:p>
        </p:txBody>
      </p:sp>
      <p:sp>
        <p:nvSpPr>
          <p:cNvPr id="6" name="Text 4"/>
          <p:cNvSpPr/>
          <p:nvPr/>
        </p:nvSpPr>
        <p:spPr>
          <a:xfrm>
            <a:off x="793790" y="36300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D0D8"/>
                </a:solidFill>
                <a:latin typeface="Roboto Medium" pitchFamily="34" charset="0"/>
                <a:ea typeface="Roboto Medium" pitchFamily="34" charset="-122"/>
                <a:cs typeface="Roboto Medium" pitchFamily="34" charset="-120"/>
              </a:rPr>
              <a:t>Environment Setup</a:t>
            </a:r>
            <a:endParaRPr lang="en-US" sz="2200" dirty="0"/>
          </a:p>
        </p:txBody>
      </p:sp>
      <p:sp>
        <p:nvSpPr>
          <p:cNvPr id="7" name="Text 5"/>
          <p:cNvSpPr/>
          <p:nvPr/>
        </p:nvSpPr>
        <p:spPr>
          <a:xfrm>
            <a:off x="793790" y="4120515"/>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Fork and clone repository, create isolated Conda environment for dependency management.</a:t>
            </a:r>
            <a:endParaRPr lang="en-US" sz="1750" dirty="0"/>
          </a:p>
        </p:txBody>
      </p:sp>
      <p:sp>
        <p:nvSpPr>
          <p:cNvPr id="8" name="Text 6"/>
          <p:cNvSpPr/>
          <p:nvPr/>
        </p:nvSpPr>
        <p:spPr>
          <a:xfrm>
            <a:off x="7428548" y="310074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Light" pitchFamily="34" charset="0"/>
                <a:ea typeface="Roboto Light" pitchFamily="34" charset="-122"/>
                <a:cs typeface="Roboto Light" pitchFamily="34" charset="-120"/>
              </a:rPr>
              <a:t>02</a:t>
            </a:r>
            <a:endParaRPr lang="en-US" sz="1750" dirty="0"/>
          </a:p>
        </p:txBody>
      </p:sp>
      <p:sp>
        <p:nvSpPr>
          <p:cNvPr id="9" name="Shape 7"/>
          <p:cNvSpPr/>
          <p:nvPr/>
        </p:nvSpPr>
        <p:spPr>
          <a:xfrm>
            <a:off x="7428548" y="3455789"/>
            <a:ext cx="6408063" cy="30480"/>
          </a:xfrm>
          <a:prstGeom prst="rect">
            <a:avLst/>
          </a:prstGeom>
          <a:solidFill>
            <a:srgbClr val="5A6ED8"/>
          </a:solidFill>
          <a:ln/>
        </p:spPr>
        <p:txBody>
          <a:bodyPr/>
          <a:lstStyle/>
          <a:p>
            <a:endParaRPr lang="en-US"/>
          </a:p>
        </p:txBody>
      </p:sp>
      <p:sp>
        <p:nvSpPr>
          <p:cNvPr id="10" name="Text 8"/>
          <p:cNvSpPr/>
          <p:nvPr/>
        </p:nvSpPr>
        <p:spPr>
          <a:xfrm>
            <a:off x="7428548" y="363009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D0D8"/>
                </a:solidFill>
                <a:latin typeface="Roboto Medium" pitchFamily="34" charset="0"/>
                <a:ea typeface="Roboto Medium" pitchFamily="34" charset="-122"/>
                <a:cs typeface="Roboto Medium" pitchFamily="34" charset="-120"/>
              </a:rPr>
              <a:t>Data Organization</a:t>
            </a:r>
            <a:endParaRPr lang="en-US" sz="2200" dirty="0"/>
          </a:p>
        </p:txBody>
      </p:sp>
      <p:sp>
        <p:nvSpPr>
          <p:cNvPr id="11" name="Text 9"/>
          <p:cNvSpPr/>
          <p:nvPr/>
        </p:nvSpPr>
        <p:spPr>
          <a:xfrm>
            <a:off x="7428548" y="4120515"/>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Organize datasets using BIDS standard for consistent formatting and reproducibility.</a:t>
            </a:r>
            <a:endParaRPr lang="en-US" sz="1750" dirty="0"/>
          </a:p>
        </p:txBody>
      </p:sp>
      <p:sp>
        <p:nvSpPr>
          <p:cNvPr id="12" name="Text 10"/>
          <p:cNvSpPr/>
          <p:nvPr/>
        </p:nvSpPr>
        <p:spPr>
          <a:xfrm>
            <a:off x="793790" y="524315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Light" pitchFamily="34" charset="0"/>
                <a:ea typeface="Roboto Light" pitchFamily="34" charset="-122"/>
                <a:cs typeface="Roboto Light" pitchFamily="34" charset="-120"/>
              </a:rPr>
              <a:t>03</a:t>
            </a:r>
            <a:endParaRPr lang="en-US" sz="1750" dirty="0"/>
          </a:p>
        </p:txBody>
      </p:sp>
      <p:sp>
        <p:nvSpPr>
          <p:cNvPr id="13" name="Shape 11"/>
          <p:cNvSpPr/>
          <p:nvPr/>
        </p:nvSpPr>
        <p:spPr>
          <a:xfrm>
            <a:off x="793790" y="5598200"/>
            <a:ext cx="6407944" cy="30480"/>
          </a:xfrm>
          <a:prstGeom prst="rect">
            <a:avLst/>
          </a:prstGeom>
          <a:solidFill>
            <a:srgbClr val="5A6ED8"/>
          </a:solidFill>
          <a:ln/>
        </p:spPr>
        <p:txBody>
          <a:bodyPr/>
          <a:lstStyle/>
          <a:p>
            <a:endParaRPr lang="en-US"/>
          </a:p>
        </p:txBody>
      </p:sp>
      <p:sp>
        <p:nvSpPr>
          <p:cNvPr id="14" name="Text 12"/>
          <p:cNvSpPr/>
          <p:nvPr/>
        </p:nvSpPr>
        <p:spPr>
          <a:xfrm>
            <a:off x="793790" y="57725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D0D8"/>
                </a:solidFill>
                <a:latin typeface="Roboto Medium" pitchFamily="34" charset="0"/>
                <a:ea typeface="Roboto Medium" pitchFamily="34" charset="-122"/>
                <a:cs typeface="Roboto Medium" pitchFamily="34" charset="-120"/>
              </a:rPr>
              <a:t>Experimental Testing</a:t>
            </a:r>
            <a:endParaRPr lang="en-US" sz="2200" dirty="0"/>
          </a:p>
        </p:txBody>
      </p:sp>
      <p:sp>
        <p:nvSpPr>
          <p:cNvPr id="15" name="Text 13"/>
          <p:cNvSpPr/>
          <p:nvPr/>
        </p:nvSpPr>
        <p:spPr>
          <a:xfrm>
            <a:off x="793790" y="6262926"/>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Test full 9-class multiclass dataset and simplified binary subset (Finger vs. Wrist movements).</a:t>
            </a:r>
            <a:endParaRPr lang="en-US" sz="1750" dirty="0"/>
          </a:p>
        </p:txBody>
      </p:sp>
      <p:sp>
        <p:nvSpPr>
          <p:cNvPr id="16" name="Text 14"/>
          <p:cNvSpPr/>
          <p:nvPr/>
        </p:nvSpPr>
        <p:spPr>
          <a:xfrm>
            <a:off x="7428548" y="524315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Light" pitchFamily="34" charset="0"/>
                <a:ea typeface="Roboto Light" pitchFamily="34" charset="-122"/>
                <a:cs typeface="Roboto Light" pitchFamily="34" charset="-120"/>
              </a:rPr>
              <a:t>04</a:t>
            </a:r>
            <a:endParaRPr lang="en-US" sz="1750" dirty="0"/>
          </a:p>
        </p:txBody>
      </p:sp>
      <p:sp>
        <p:nvSpPr>
          <p:cNvPr id="17" name="Shape 15"/>
          <p:cNvSpPr/>
          <p:nvPr/>
        </p:nvSpPr>
        <p:spPr>
          <a:xfrm>
            <a:off x="7428548" y="5598200"/>
            <a:ext cx="6408063" cy="30480"/>
          </a:xfrm>
          <a:prstGeom prst="rect">
            <a:avLst/>
          </a:prstGeom>
          <a:solidFill>
            <a:srgbClr val="5A6ED8"/>
          </a:solidFill>
          <a:ln/>
        </p:spPr>
        <p:txBody>
          <a:bodyPr/>
          <a:lstStyle/>
          <a:p>
            <a:endParaRPr lang="en-US"/>
          </a:p>
        </p:txBody>
      </p:sp>
      <p:sp>
        <p:nvSpPr>
          <p:cNvPr id="18" name="Text 16"/>
          <p:cNvSpPr/>
          <p:nvPr/>
        </p:nvSpPr>
        <p:spPr>
          <a:xfrm>
            <a:off x="7428548" y="577250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FD0D8"/>
                </a:solidFill>
                <a:latin typeface="Roboto Medium" pitchFamily="34" charset="0"/>
                <a:ea typeface="Roboto Medium" pitchFamily="34" charset="-122"/>
                <a:cs typeface="Roboto Medium" pitchFamily="34" charset="-120"/>
              </a:rPr>
              <a:t>Model Development</a:t>
            </a:r>
            <a:endParaRPr lang="en-US" sz="2200" dirty="0"/>
          </a:p>
        </p:txBody>
      </p:sp>
      <p:sp>
        <p:nvSpPr>
          <p:cNvPr id="19" name="Text 17"/>
          <p:cNvSpPr/>
          <p:nvPr/>
        </p:nvSpPr>
        <p:spPr>
          <a:xfrm>
            <a:off x="7428548" y="6262926"/>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Write custom classifier with advanced preprocessing and regularization techniques to enhance generalization.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91488" y="701040"/>
            <a:ext cx="7733824" cy="1258967"/>
          </a:xfrm>
          <a:prstGeom prst="rect">
            <a:avLst/>
          </a:prstGeom>
          <a:noFill/>
          <a:ln/>
        </p:spPr>
        <p:txBody>
          <a:bodyPr wrap="square" lIns="0" tIns="0" rIns="0" bIns="0" rtlCol="0" anchor="t"/>
          <a:lstStyle/>
          <a:p>
            <a:pPr marL="0" indent="0" algn="l">
              <a:lnSpc>
                <a:spcPts val="4950"/>
              </a:lnSpc>
              <a:buNone/>
            </a:pPr>
            <a:r>
              <a:rPr lang="en-US" sz="3950" dirty="0">
                <a:solidFill>
                  <a:srgbClr val="FFFFFF"/>
                </a:solidFill>
                <a:latin typeface="Roboto Medium" pitchFamily="34" charset="0"/>
                <a:ea typeface="Roboto Medium" pitchFamily="34" charset="-122"/>
                <a:cs typeface="Roboto Medium" pitchFamily="34" charset="-120"/>
              </a:rPr>
              <a:t>Expected Outcomes and Deliverables</a:t>
            </a:r>
            <a:endParaRPr lang="en-US" sz="3950" dirty="0"/>
          </a:p>
        </p:txBody>
      </p:sp>
      <p:sp>
        <p:nvSpPr>
          <p:cNvPr id="4" name="Shape 1"/>
          <p:cNvSpPr/>
          <p:nvPr/>
        </p:nvSpPr>
        <p:spPr>
          <a:xfrm>
            <a:off x="6191488" y="2228374"/>
            <a:ext cx="7733824" cy="1478994"/>
          </a:xfrm>
          <a:prstGeom prst="roundRect">
            <a:avLst>
              <a:gd name="adj" fmla="val 7419"/>
            </a:avLst>
          </a:prstGeom>
          <a:solidFill>
            <a:srgbClr val="000018">
              <a:alpha val="95000"/>
            </a:srgbClr>
          </a:solidFill>
          <a:ln w="22860">
            <a:solidFill>
              <a:srgbClr val="313E80"/>
            </a:solidFill>
            <a:prstDash val="solid"/>
          </a:ln>
        </p:spPr>
        <p:txBody>
          <a:bodyPr/>
          <a:lstStyle/>
          <a:p>
            <a:endParaRPr lang="en-US"/>
          </a:p>
        </p:txBody>
      </p:sp>
      <p:sp>
        <p:nvSpPr>
          <p:cNvPr id="5" name="Shape 2"/>
          <p:cNvSpPr/>
          <p:nvPr/>
        </p:nvSpPr>
        <p:spPr>
          <a:xfrm>
            <a:off x="6168628" y="2228374"/>
            <a:ext cx="91440" cy="1478994"/>
          </a:xfrm>
          <a:prstGeom prst="roundRect">
            <a:avLst>
              <a:gd name="adj" fmla="val 92534"/>
            </a:avLst>
          </a:prstGeom>
          <a:solidFill>
            <a:srgbClr val="5A6ED8"/>
          </a:solidFill>
          <a:ln/>
        </p:spPr>
        <p:txBody>
          <a:bodyPr/>
          <a:lstStyle/>
          <a:p>
            <a:endParaRPr lang="en-US"/>
          </a:p>
        </p:txBody>
      </p:sp>
      <p:sp>
        <p:nvSpPr>
          <p:cNvPr id="6" name="Text 3"/>
          <p:cNvSpPr/>
          <p:nvPr/>
        </p:nvSpPr>
        <p:spPr>
          <a:xfrm>
            <a:off x="6484382" y="2452688"/>
            <a:ext cx="2518172" cy="314682"/>
          </a:xfrm>
          <a:prstGeom prst="rect">
            <a:avLst/>
          </a:prstGeom>
          <a:noFill/>
          <a:ln/>
        </p:spPr>
        <p:txBody>
          <a:bodyPr wrap="none" lIns="0" tIns="0" rIns="0" bIns="0" rtlCol="0" anchor="t"/>
          <a:lstStyle/>
          <a:p>
            <a:pPr marL="0" indent="0" algn="l">
              <a:lnSpc>
                <a:spcPts val="2450"/>
              </a:lnSpc>
              <a:buNone/>
            </a:pPr>
            <a:r>
              <a:rPr lang="en-US" sz="1950" dirty="0">
                <a:solidFill>
                  <a:srgbClr val="CFD0D8"/>
                </a:solidFill>
                <a:latin typeface="Roboto Medium" pitchFamily="34" charset="0"/>
                <a:ea typeface="Roboto Medium" pitchFamily="34" charset="-122"/>
                <a:cs typeface="Roboto Medium" pitchFamily="34" charset="-120"/>
              </a:rPr>
              <a:t>Optimized Decoder</a:t>
            </a:r>
            <a:endParaRPr lang="en-US" sz="1950" dirty="0"/>
          </a:p>
        </p:txBody>
      </p:sp>
      <p:sp>
        <p:nvSpPr>
          <p:cNvPr id="7" name="Text 4"/>
          <p:cNvSpPr/>
          <p:nvPr/>
        </p:nvSpPr>
        <p:spPr>
          <a:xfrm>
            <a:off x="6484382" y="2874645"/>
            <a:ext cx="7216616" cy="608409"/>
          </a:xfrm>
          <a:prstGeom prst="rect">
            <a:avLst/>
          </a:prstGeom>
          <a:noFill/>
          <a:ln/>
        </p:spPr>
        <p:txBody>
          <a:bodyPr wrap="square" lIns="0" tIns="0" rIns="0" bIns="0" rtlCol="0" anchor="t"/>
          <a:lstStyle/>
          <a:p>
            <a:pPr marL="0" indent="0" algn="l">
              <a:lnSpc>
                <a:spcPts val="2350"/>
              </a:lnSpc>
              <a:buNone/>
            </a:pPr>
            <a:r>
              <a:rPr lang="en-US" sz="1550" dirty="0">
                <a:solidFill>
                  <a:srgbClr val="CFD0D8"/>
                </a:solidFill>
                <a:latin typeface="Roboto" pitchFamily="34" charset="0"/>
                <a:ea typeface="Roboto" pitchFamily="34" charset="-122"/>
                <a:cs typeface="Roboto" pitchFamily="34" charset="-120"/>
              </a:rPr>
              <a:t>Fully optimized multiclass model ready for real-time application with high classification accuracy.</a:t>
            </a:r>
            <a:endParaRPr lang="en-US" sz="1550" dirty="0"/>
          </a:p>
        </p:txBody>
      </p:sp>
      <p:sp>
        <p:nvSpPr>
          <p:cNvPr id="8" name="Shape 5"/>
          <p:cNvSpPr/>
          <p:nvPr/>
        </p:nvSpPr>
        <p:spPr>
          <a:xfrm>
            <a:off x="6191488" y="3886200"/>
            <a:ext cx="7733824" cy="1478994"/>
          </a:xfrm>
          <a:prstGeom prst="roundRect">
            <a:avLst>
              <a:gd name="adj" fmla="val 7419"/>
            </a:avLst>
          </a:prstGeom>
          <a:solidFill>
            <a:srgbClr val="000018">
              <a:alpha val="95000"/>
            </a:srgbClr>
          </a:solidFill>
          <a:ln w="22860">
            <a:solidFill>
              <a:srgbClr val="313E80"/>
            </a:solidFill>
            <a:prstDash val="solid"/>
          </a:ln>
        </p:spPr>
        <p:txBody>
          <a:bodyPr/>
          <a:lstStyle/>
          <a:p>
            <a:endParaRPr lang="en-US"/>
          </a:p>
        </p:txBody>
      </p:sp>
      <p:sp>
        <p:nvSpPr>
          <p:cNvPr id="9" name="Shape 6"/>
          <p:cNvSpPr/>
          <p:nvPr/>
        </p:nvSpPr>
        <p:spPr>
          <a:xfrm>
            <a:off x="6168628" y="3886200"/>
            <a:ext cx="91440" cy="1478994"/>
          </a:xfrm>
          <a:prstGeom prst="roundRect">
            <a:avLst>
              <a:gd name="adj" fmla="val 92534"/>
            </a:avLst>
          </a:prstGeom>
          <a:solidFill>
            <a:srgbClr val="5A6ED8"/>
          </a:solidFill>
          <a:ln/>
        </p:spPr>
        <p:txBody>
          <a:bodyPr/>
          <a:lstStyle/>
          <a:p>
            <a:endParaRPr lang="en-US"/>
          </a:p>
        </p:txBody>
      </p:sp>
      <p:sp>
        <p:nvSpPr>
          <p:cNvPr id="10" name="Text 7"/>
          <p:cNvSpPr/>
          <p:nvPr/>
        </p:nvSpPr>
        <p:spPr>
          <a:xfrm>
            <a:off x="6484382" y="4110514"/>
            <a:ext cx="3180517" cy="314682"/>
          </a:xfrm>
          <a:prstGeom prst="rect">
            <a:avLst/>
          </a:prstGeom>
          <a:noFill/>
          <a:ln/>
        </p:spPr>
        <p:txBody>
          <a:bodyPr wrap="none" lIns="0" tIns="0" rIns="0" bIns="0" rtlCol="0" anchor="t"/>
          <a:lstStyle/>
          <a:p>
            <a:pPr marL="0" indent="0" algn="l">
              <a:lnSpc>
                <a:spcPts val="2450"/>
              </a:lnSpc>
              <a:buNone/>
            </a:pPr>
            <a:r>
              <a:rPr lang="en-US" sz="1950" dirty="0">
                <a:solidFill>
                  <a:srgbClr val="CFD0D8"/>
                </a:solidFill>
                <a:latin typeface="Roboto Medium" pitchFamily="34" charset="0"/>
                <a:ea typeface="Roboto Medium" pitchFamily="34" charset="-122"/>
                <a:cs typeface="Roboto Medium" pitchFamily="34" charset="-120"/>
              </a:rPr>
              <a:t>Overcoming Baseline Issues</a:t>
            </a:r>
            <a:endParaRPr lang="en-US" sz="1950" dirty="0"/>
          </a:p>
        </p:txBody>
      </p:sp>
      <p:sp>
        <p:nvSpPr>
          <p:cNvPr id="11" name="Text 8"/>
          <p:cNvSpPr/>
          <p:nvPr/>
        </p:nvSpPr>
        <p:spPr>
          <a:xfrm>
            <a:off x="6484382" y="4532471"/>
            <a:ext cx="7216616" cy="608409"/>
          </a:xfrm>
          <a:prstGeom prst="rect">
            <a:avLst/>
          </a:prstGeom>
          <a:noFill/>
          <a:ln/>
        </p:spPr>
        <p:txBody>
          <a:bodyPr wrap="square" lIns="0" tIns="0" rIns="0" bIns="0" rtlCol="0" anchor="t"/>
          <a:lstStyle/>
          <a:p>
            <a:pPr marL="0" indent="0" algn="l">
              <a:lnSpc>
                <a:spcPts val="2350"/>
              </a:lnSpc>
              <a:buNone/>
            </a:pPr>
            <a:r>
              <a:rPr lang="en-US" sz="1550" dirty="0">
                <a:solidFill>
                  <a:srgbClr val="CFD0D8"/>
                </a:solidFill>
                <a:latin typeface="Roboto" pitchFamily="34" charset="0"/>
                <a:ea typeface="Roboto" pitchFamily="34" charset="-122"/>
                <a:cs typeface="Roboto" pitchFamily="34" charset="-120"/>
              </a:rPr>
              <a:t>Resolved overfitting issues and improved multiclass separation capabilities with limited data.</a:t>
            </a:r>
            <a:endParaRPr lang="en-US" sz="1550" dirty="0"/>
          </a:p>
        </p:txBody>
      </p:sp>
      <p:sp>
        <p:nvSpPr>
          <p:cNvPr id="12" name="Shape 9"/>
          <p:cNvSpPr/>
          <p:nvPr/>
        </p:nvSpPr>
        <p:spPr>
          <a:xfrm>
            <a:off x="6191488" y="5544026"/>
            <a:ext cx="7733824" cy="1478994"/>
          </a:xfrm>
          <a:prstGeom prst="roundRect">
            <a:avLst>
              <a:gd name="adj" fmla="val 7419"/>
            </a:avLst>
          </a:prstGeom>
          <a:solidFill>
            <a:srgbClr val="000018">
              <a:alpha val="95000"/>
            </a:srgbClr>
          </a:solidFill>
          <a:ln w="22860">
            <a:solidFill>
              <a:srgbClr val="313E80"/>
            </a:solidFill>
            <a:prstDash val="solid"/>
          </a:ln>
        </p:spPr>
        <p:txBody>
          <a:bodyPr/>
          <a:lstStyle/>
          <a:p>
            <a:endParaRPr lang="en-US"/>
          </a:p>
        </p:txBody>
      </p:sp>
      <p:sp>
        <p:nvSpPr>
          <p:cNvPr id="13" name="Shape 10"/>
          <p:cNvSpPr/>
          <p:nvPr/>
        </p:nvSpPr>
        <p:spPr>
          <a:xfrm>
            <a:off x="6168628" y="5544026"/>
            <a:ext cx="91440" cy="1478994"/>
          </a:xfrm>
          <a:prstGeom prst="roundRect">
            <a:avLst>
              <a:gd name="adj" fmla="val 92534"/>
            </a:avLst>
          </a:prstGeom>
          <a:solidFill>
            <a:srgbClr val="5A6ED8"/>
          </a:solidFill>
          <a:ln/>
        </p:spPr>
        <p:txBody>
          <a:bodyPr/>
          <a:lstStyle/>
          <a:p>
            <a:endParaRPr lang="en-US"/>
          </a:p>
        </p:txBody>
      </p:sp>
      <p:sp>
        <p:nvSpPr>
          <p:cNvPr id="14" name="Text 11"/>
          <p:cNvSpPr/>
          <p:nvPr/>
        </p:nvSpPr>
        <p:spPr>
          <a:xfrm>
            <a:off x="6484382" y="5768340"/>
            <a:ext cx="2518172" cy="314682"/>
          </a:xfrm>
          <a:prstGeom prst="rect">
            <a:avLst/>
          </a:prstGeom>
          <a:noFill/>
          <a:ln/>
        </p:spPr>
        <p:txBody>
          <a:bodyPr wrap="none" lIns="0" tIns="0" rIns="0" bIns="0" rtlCol="0" anchor="t"/>
          <a:lstStyle/>
          <a:p>
            <a:pPr marL="0" indent="0" algn="l">
              <a:lnSpc>
                <a:spcPts val="2450"/>
              </a:lnSpc>
              <a:buNone/>
            </a:pPr>
            <a:r>
              <a:rPr lang="en-US" sz="1950" dirty="0">
                <a:solidFill>
                  <a:srgbClr val="CFD0D8"/>
                </a:solidFill>
                <a:latin typeface="Roboto Medium" pitchFamily="34" charset="0"/>
                <a:ea typeface="Roboto Medium" pitchFamily="34" charset="-122"/>
                <a:cs typeface="Roboto Medium" pitchFamily="34" charset="-120"/>
              </a:rPr>
              <a:t>Robust Method</a:t>
            </a:r>
            <a:endParaRPr lang="en-US" sz="1950" dirty="0"/>
          </a:p>
        </p:txBody>
      </p:sp>
      <p:sp>
        <p:nvSpPr>
          <p:cNvPr id="15" name="Text 12"/>
          <p:cNvSpPr/>
          <p:nvPr/>
        </p:nvSpPr>
        <p:spPr>
          <a:xfrm>
            <a:off x="6484382" y="6190298"/>
            <a:ext cx="7216616" cy="608409"/>
          </a:xfrm>
          <a:prstGeom prst="rect">
            <a:avLst/>
          </a:prstGeom>
          <a:noFill/>
          <a:ln/>
        </p:spPr>
        <p:txBody>
          <a:bodyPr wrap="square" lIns="0" tIns="0" rIns="0" bIns="0" rtlCol="0" anchor="t"/>
          <a:lstStyle/>
          <a:p>
            <a:pPr marL="0" indent="0" algn="l">
              <a:lnSpc>
                <a:spcPts val="2350"/>
              </a:lnSpc>
              <a:buNone/>
            </a:pPr>
            <a:r>
              <a:rPr lang="en-US" sz="1550" dirty="0">
                <a:solidFill>
                  <a:srgbClr val="CFD0D8"/>
                </a:solidFill>
                <a:latin typeface="Roboto" pitchFamily="34" charset="0"/>
                <a:ea typeface="Roboto" pitchFamily="34" charset="-122"/>
                <a:cs typeface="Roboto" pitchFamily="34" charset="-120"/>
              </a:rPr>
              <a:t>Reliable deep learning method that translates complex motor imagery into actionable BCI commands.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293</Words>
  <Application>Microsoft Office PowerPoint</Application>
  <PresentationFormat>Custom</PresentationFormat>
  <Paragraphs>38</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Roboto</vt:lpstr>
      <vt:lpstr>Arial</vt:lpstr>
      <vt:lpstr>Roboto Medium</vt:lpstr>
      <vt:lpstr>Roboto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Albergo, Giacomo</cp:lastModifiedBy>
  <cp:revision>4</cp:revision>
  <dcterms:created xsi:type="dcterms:W3CDTF">2026-02-24T22:31:46Z</dcterms:created>
  <dcterms:modified xsi:type="dcterms:W3CDTF">2026-02-24T22:34:48Z</dcterms:modified>
</cp:coreProperties>
</file>