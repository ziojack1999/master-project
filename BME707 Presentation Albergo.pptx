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EEGNet (LOSO)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Sub-01</c:v>
                </c:pt>
                <c:pt idx="1">
                  <c:v>Sub-02</c:v>
                </c:pt>
                <c:pt idx="2">
                  <c:v>Sub-03</c:v>
                </c:pt>
                <c:pt idx="3">
                  <c:v>Sub-04</c:v>
                </c:pt>
                <c:pt idx="4">
                  <c:v>Sub-05</c:v>
                </c:pt>
                <c:pt idx="5">
                  <c:v>Sub-06</c:v>
                </c:pt>
                <c:pt idx="6">
                  <c:v>Sub-07</c:v>
                </c:pt>
                <c:pt idx="7">
                  <c:v>Sub-08</c:v>
                </c:pt>
                <c:pt idx="8">
                  <c:v>Sub-09</c:v>
                </c:pt>
                <c:pt idx="9">
                  <c:v>Sub-10</c:v>
                </c:pt>
                <c:pt idx="10">
                  <c:v>Sub-11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63.96</c:v>
                </c:pt>
                <c:pt idx="1">
                  <c:v>61.98</c:v>
                </c:pt>
                <c:pt idx="2">
                  <c:v>75.94</c:v>
                </c:pt>
                <c:pt idx="3">
                  <c:v>66.37</c:v>
                </c:pt>
                <c:pt idx="4">
                  <c:v>65.069999999999993</c:v>
                </c:pt>
                <c:pt idx="5">
                  <c:v>79.08</c:v>
                </c:pt>
                <c:pt idx="6">
                  <c:v>65.34</c:v>
                </c:pt>
                <c:pt idx="7">
                  <c:v>87.8</c:v>
                </c:pt>
                <c:pt idx="8">
                  <c:v>67.959999999999994</c:v>
                </c:pt>
                <c:pt idx="9">
                  <c:v>71.709999999999994</c:v>
                </c:pt>
                <c:pt idx="10">
                  <c:v>88.75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3-4F5F-8AE9-486D1F654E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ShallowConvNet (LORO)</c:v>
                </c:pt>
              </c:strCache>
            </c:strRef>
          </c:tx>
          <c:spPr>
            <a:solidFill>
              <a:srgbClr val="148F8F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Sub-01</c:v>
                </c:pt>
                <c:pt idx="1">
                  <c:v>Sub-02</c:v>
                </c:pt>
                <c:pt idx="2">
                  <c:v>Sub-03</c:v>
                </c:pt>
                <c:pt idx="3">
                  <c:v>Sub-04</c:v>
                </c:pt>
                <c:pt idx="4">
                  <c:v>Sub-05</c:v>
                </c:pt>
                <c:pt idx="5">
                  <c:v>Sub-06</c:v>
                </c:pt>
                <c:pt idx="6">
                  <c:v>Sub-07</c:v>
                </c:pt>
                <c:pt idx="7">
                  <c:v>Sub-08</c:v>
                </c:pt>
                <c:pt idx="8">
                  <c:v>Sub-09</c:v>
                </c:pt>
                <c:pt idx="9">
                  <c:v>Sub-10</c:v>
                </c:pt>
                <c:pt idx="10">
                  <c:v>Sub-11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60.7</c:v>
                </c:pt>
                <c:pt idx="1">
                  <c:v>60.5</c:v>
                </c:pt>
                <c:pt idx="2">
                  <c:v>69.7</c:v>
                </c:pt>
                <c:pt idx="3">
                  <c:v>75.8</c:v>
                </c:pt>
                <c:pt idx="4">
                  <c:v>63.2</c:v>
                </c:pt>
                <c:pt idx="5">
                  <c:v>64.3</c:v>
                </c:pt>
                <c:pt idx="6">
                  <c:v>63.5</c:v>
                </c:pt>
                <c:pt idx="7">
                  <c:v>73.3</c:v>
                </c:pt>
                <c:pt idx="8">
                  <c:v>63.2</c:v>
                </c:pt>
                <c:pt idx="9">
                  <c:v>54.2</c:v>
                </c:pt>
                <c:pt idx="10">
                  <c:v>83.3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B3-4F5F-8AE9-486D1F654E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CSP+LDA (LORO)</c:v>
                </c:pt>
              </c:strCache>
            </c:strRef>
          </c:tx>
          <c:spPr>
            <a:solidFill>
              <a:srgbClr val="126E82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Sub-01</c:v>
                </c:pt>
                <c:pt idx="1">
                  <c:v>Sub-02</c:v>
                </c:pt>
                <c:pt idx="2">
                  <c:v>Sub-03</c:v>
                </c:pt>
                <c:pt idx="3">
                  <c:v>Sub-04</c:v>
                </c:pt>
                <c:pt idx="4">
                  <c:v>Sub-05</c:v>
                </c:pt>
                <c:pt idx="5">
                  <c:v>Sub-06</c:v>
                </c:pt>
                <c:pt idx="6">
                  <c:v>Sub-07</c:v>
                </c:pt>
                <c:pt idx="7">
                  <c:v>Sub-08</c:v>
                </c:pt>
                <c:pt idx="8">
                  <c:v>Sub-09</c:v>
                </c:pt>
                <c:pt idx="9">
                  <c:v>Sub-10</c:v>
                </c:pt>
                <c:pt idx="10">
                  <c:v>Sub-11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60</c:v>
                </c:pt>
                <c:pt idx="1">
                  <c:v>58</c:v>
                </c:pt>
                <c:pt idx="2">
                  <c:v>66</c:v>
                </c:pt>
                <c:pt idx="3">
                  <c:v>77</c:v>
                </c:pt>
                <c:pt idx="4">
                  <c:v>62</c:v>
                </c:pt>
                <c:pt idx="5">
                  <c:v>68</c:v>
                </c:pt>
                <c:pt idx="6">
                  <c:v>64</c:v>
                </c:pt>
                <c:pt idx="7">
                  <c:v>72</c:v>
                </c:pt>
                <c:pt idx="8">
                  <c:v>62</c:v>
                </c:pt>
                <c:pt idx="9">
                  <c:v>54</c:v>
                </c:pt>
                <c:pt idx="10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B3-4F5F-8AE9-486D1F654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Best Model Distribution (n=11)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Best model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8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0A-46C0-B7A0-EC5A24805819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0A-46C0-B7A0-EC5A24805819}"/>
              </c:ext>
            </c:extLst>
          </c:dPt>
          <c:dPt>
            <c:idx val="2"/>
            <c:bubble3D val="0"/>
            <c:spPr>
              <a:solidFill>
                <a:srgbClr val="126E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0A-46C0-B7A0-EC5A2480581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0A-46C0-B7A0-EC5A2480581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0A-46C0-B7A0-EC5A2480581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0A-46C0-B7A0-EC5A2480581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ShallowConvNet</c:v>
                </c:pt>
                <c:pt idx="1">
                  <c:v>EEGNet</c:v>
                </c:pt>
                <c:pt idx="2">
                  <c:v>CSP+LDA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0A-46C0-B7A0-EC5A248058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07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74320"/>
            <a:ext cx="109728" cy="109728"/>
          </a:xfrm>
          <a:prstGeom prst="ellipse">
            <a:avLst/>
          </a:prstGeom>
          <a:solidFill>
            <a:srgbClr val="1ABC9C">
              <a:alpha val="5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73568" y="438912"/>
            <a:ext cx="109728" cy="109728"/>
          </a:xfrm>
          <a:prstGeom prst="ellipse">
            <a:avLst/>
          </a:prstGeom>
          <a:solidFill>
            <a:srgbClr val="1ABC9C">
              <a:alpha val="42000"/>
            </a:srgbClr>
          </a:solidFill>
          <a:ln w="12700">
            <a:solidFill>
              <a:srgbClr val="1ABC9C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74736" y="603504"/>
            <a:ext cx="109728" cy="109728"/>
          </a:xfrm>
          <a:prstGeom prst="ellipse">
            <a:avLst/>
          </a:prstGeom>
          <a:solidFill>
            <a:srgbClr val="1ABC9C">
              <a:alpha val="34000"/>
            </a:srgbClr>
          </a:solidFill>
          <a:ln w="12700">
            <a:solidFill>
              <a:srgbClr val="1ABC9C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75904" y="768096"/>
            <a:ext cx="109728" cy="109728"/>
          </a:xfrm>
          <a:prstGeom prst="ellipse">
            <a:avLst/>
          </a:prstGeom>
          <a:solidFill>
            <a:srgbClr val="1ABC9C">
              <a:alpha val="26000"/>
            </a:srgbClr>
          </a:solidFill>
          <a:ln w="12700">
            <a:solidFill>
              <a:srgbClr val="1ABC9C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77072" y="932688"/>
            <a:ext cx="109728" cy="109728"/>
          </a:xfrm>
          <a:prstGeom prst="ellipse">
            <a:avLst/>
          </a:prstGeom>
          <a:solidFill>
            <a:srgbClr val="1ABC9C">
              <a:alpha val="18000"/>
            </a:srgbClr>
          </a:solidFill>
          <a:ln w="12700">
            <a:solidFill>
              <a:srgbClr val="1ABC9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78240" y="1097280"/>
            <a:ext cx="109728" cy="109728"/>
          </a:xfrm>
          <a:prstGeom prst="ellipse">
            <a:avLst/>
          </a:prstGeom>
          <a:solidFill>
            <a:srgbClr val="1ABC9C">
              <a:alpha val="10000"/>
            </a:srgbClr>
          </a:solidFill>
          <a:ln w="12700">
            <a:solidFill>
              <a:srgbClr val="1ABC9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Deep Learning Classifier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Multiclass Motor Imagery BCIs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1905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 707  |  Final Progress Presentation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Biomedical Engineering  |  University of Miami  |  Spring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· Motor Imagery · EEGNet · ShallowConvNet · CSP+LDA · Real-Time Decoding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Motor Imagery BCI matters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2/14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75488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cord injury (SCI) disrupts motor commands from brain → limbs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 people living with SCI in the US; ~17,800 new cases/year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C5–C6 motor-complete: hands and arms paralyzed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BCI-FES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40156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motor intent from scalp EEG non-invasively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imagined movement → trigger Functional Electrical Stimulation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voluntary hand/arm function without surgery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49546" y="1674393"/>
            <a:ext cx="0" cy="310896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539818" y="1987492"/>
            <a:ext cx="219456" cy="64008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49546" y="2692908"/>
            <a:ext cx="0" cy="310896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45765" y="3006369"/>
            <a:ext cx="219456" cy="64008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55493" y="3675739"/>
            <a:ext cx="0" cy="310896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45765" y="3991802"/>
            <a:ext cx="219456" cy="64008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37037" y="1008656"/>
            <a:ext cx="256032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37037" y="1031651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(Motor Imagery)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37037" y="2060644"/>
            <a:ext cx="2560320" cy="640080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37037" y="20528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37037" y="3071938"/>
            <a:ext cx="2560320" cy="64008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37037" y="308108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37037" y="4055810"/>
            <a:ext cx="256032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7037" y="405618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Device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(Muscle Stim)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4773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ERD in mu/beta bands → action vs. rest → stimulate!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BIDS-formatted EEG Motor Imagery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3/14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87452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187452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885493"/>
            <a:ext cx="18745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 + Controls)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874520" cy="1280160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216152"/>
            <a:ext cx="187452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14600" y="1885493"/>
            <a:ext cx="18745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874520" cy="128016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216152"/>
            <a:ext cx="187452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17720" y="1885493"/>
            <a:ext cx="18745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143000"/>
            <a:ext cx="1874520" cy="12801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216152"/>
            <a:ext cx="187452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Hz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20840" y="1885493"/>
            <a:ext cx="18745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6517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Preprocessing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1572768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017520"/>
            <a:ext cx="1572768" cy="347472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" y="3401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" y="3785616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4th-order Butterworth  8–30 Hz  (mu + beta)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84248" y="3858768"/>
            <a:ext cx="164592" cy="0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48840" y="3017520"/>
            <a:ext cx="1572768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148840" y="3017520"/>
            <a:ext cx="1572768" cy="347472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48840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03704" y="3401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03704" y="3785616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4-second windows  (0.5–4.5 s post-cue)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21608" y="3858768"/>
            <a:ext cx="164592" cy="0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86200" y="3017520"/>
            <a:ext cx="1572768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86200" y="3017520"/>
            <a:ext cx="1572768" cy="347472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86200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41064" y="3401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Rejection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41064" y="3785616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epochs &gt; 100 µV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58968" y="3858768"/>
            <a:ext cx="164592" cy="0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23560" y="3017520"/>
            <a:ext cx="1572768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23560" y="3017520"/>
            <a:ext cx="1572768" cy="347472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23560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78424" y="3401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78424" y="3785616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z-score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96328" y="3858768"/>
            <a:ext cx="164592" cy="0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60920" y="3017520"/>
            <a:ext cx="1572768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60920" y="3017520"/>
            <a:ext cx="1572768" cy="347472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60920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15784" y="3401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Length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15784" y="3785616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to 1024 samples (RT_EPOCH_S) — AMD DirectML fix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Four Classification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across architectures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4/14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93392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993392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Balanced Acc.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2311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~2,962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29992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Leave-One-Subject-Out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3364992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CNN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cross-subject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636008"/>
            <a:ext cx="1993392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50592" y="1143000"/>
            <a:ext cx="1993392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50592" y="1143000"/>
            <a:ext cx="1993392" cy="777240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50592" y="11704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ShallowConvNet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50592" y="1645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23744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Balanced Acc.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23744" y="22311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523744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~38,042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23744" y="29992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Leave-One-Run-Out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23744" y="3364992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Spectral-spatial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per-session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50592" y="4636008"/>
            <a:ext cx="1993392" cy="73152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26864" y="1143000"/>
            <a:ext cx="1993392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26864" y="1143000"/>
            <a:ext cx="1993392" cy="77724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26864" y="11704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LDA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26864" y="1645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0016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Balanced Acc.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0016" y="22311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700016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~120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016" y="29992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Leave-One-Run-Out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0016" y="3364992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gold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 training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26864" y="4636008"/>
            <a:ext cx="1993392" cy="73152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03136" y="1143000"/>
            <a:ext cx="1993392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03136" y="1143000"/>
            <a:ext cx="1993392" cy="7772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03136" y="117043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Band-Power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03136" y="1645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76288" y="199339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Balanced Acc.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76288" y="22311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876288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~100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29992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Leave-One-Run-Out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76288" y="3364992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03136" y="4636008"/>
            <a:ext cx="1993392" cy="7315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Performance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balanced accuracy by method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5/14</a:t>
            </a:r>
            <a:endParaRPr lang="en-US" sz="8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51560"/>
          <a:ext cx="8412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566160"/>
            <a:ext cx="841248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0" y="35021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chance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4434840"/>
            <a:ext cx="8412480" cy="530352"/>
          </a:xfrm>
          <a:prstGeom prst="rect">
            <a:avLst/>
          </a:prstGeom>
          <a:solidFill>
            <a:srgbClr val="E8F4F8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4462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identity drives performance more than algorithm choice. Sub-08 and Sub-11 reach 88–89% across all methods; Sub-10 struggles near 54% across all methods.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Spatial Filters — All Subjects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topography captured by Common Spatial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6/14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8480" r="-8480"/>
          <a:stretch/>
        </p:blipFill>
        <p:spPr>
          <a:xfrm>
            <a:off x="914400" y="1097280"/>
            <a:ext cx="73152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subject. Colour = spatial filter weight. Contralateral sensorimotor focus (C3/C4) indicates strong ERD.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v2 — Diagnosing v1 Failures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critical flaws that invalidated v1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7/14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1755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73152" cy="17556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Overfitting to Session Noise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618488"/>
            <a:ext cx="35204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(broken)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 runs (~50 epochs) within the same recording session → model memorizes noise artifacts, not MI patterns → inflated ~85% offline 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18488"/>
            <a:ext cx="38404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6916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(fixed)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ALL sessions except the last → honest ~67–76% cross-session accuracy that actually correlates with real-time performance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2057400"/>
            <a:ext cx="411480" cy="0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1947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8321040" cy="1755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73152" cy="17556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1546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Training / Test Format Mismatch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538728"/>
            <a:ext cx="35204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(broken)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794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clean event-aligned MNE epochs → threshold calibrated on perfect windows → at real-time inference the model sees sliding, misaligned, transitional windows it has never encountered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538728"/>
            <a:ext cx="38404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36118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(fixed)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trained directly on sliding-window buffered data → threshold calibrated on a mini RT simulation → inference distribution matches training distribution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977640"/>
            <a:ext cx="411480" cy="0"/>
          </a:xfrm>
          <a:prstGeom prst="line">
            <a:avLst/>
          </a:prstGeom>
          <a:noFill/>
          <a:ln w="254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3867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v2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Leave-One-Session-Out · Sliding-Window Training · Streaming Threshold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8/14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0604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60604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Training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" y="1719072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1691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ALL sessions except last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286000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8" y="22585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runs 1+2 per session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" y="2852928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" y="28254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sliding windows (stride=32)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3419856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8" y="33924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EEGNet, ShallowConvNet,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CSP+LDA, Band-Power SVM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" y="3986784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" y="39593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 as real-time inference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0" y="1143000"/>
            <a:ext cx="260604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1143000"/>
            <a:ext cx="2606040" cy="457200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Threshold Calibration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10128" y="1719072"/>
            <a:ext cx="201168" cy="201168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84448" y="1691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training sessions, run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2286000"/>
            <a:ext cx="201168" cy="201168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84448" y="22585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mini RT simulation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continuous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0128" y="2852928"/>
            <a:ext cx="201168" cy="201168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84448" y="28254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threshold 0.10→0.90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0.02)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3419856"/>
            <a:ext cx="201168" cy="201168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84448" y="33924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threshold maximising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balanced accuracy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0128" y="3986784"/>
            <a:ext cx="201168" cy="201168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84448" y="39593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threshold stored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989320" y="1143000"/>
            <a:ext cx="260604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89320" y="1143000"/>
            <a:ext cx="2606040" cy="45720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8932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Test (Held-Out)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99048" y="1719072"/>
            <a:ext cx="201168" cy="201168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73368" y="1691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session only (different day)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99048" y="2286000"/>
            <a:ext cx="201168" cy="201168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73368" y="22585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continuous recording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99048" y="2852928"/>
            <a:ext cx="201168" cy="201168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73368" y="28254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 simulation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threshold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99048" y="3419856"/>
            <a:ext cx="201168" cy="201168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73368" y="33924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leakage from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or calibration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99048" y="3986784"/>
            <a:ext cx="201168" cy="201168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73368" y="39593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balanced accuracy reported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Selection: all 4 models trained → compare on calibration data → pick highest balanced accuracy → apply to test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Results — All 11 Subjects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model scores + real-time balanced accuracy on held-out test session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9/14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6775704" cy="351129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CSP+LDA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ShallowConvNet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ShallowConvNet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CSP+LDA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CSP+LDA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ShallowConvNet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ShallowConvNet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CSP+LDA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best offline model selected  |  RT Acc. = real-time balanced accuracy on held-out session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pipeline v2 — cross-session real-time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10/14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82880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18288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95728" y="1143000"/>
            <a:ext cx="1828800" cy="1371600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95728" y="1216152"/>
            <a:ext cx="18288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95728" y="193852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Subject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(Sub-08)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9976" y="1143000"/>
            <a:ext cx="1828800" cy="137160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79976" y="1216152"/>
            <a:ext cx="18288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79976" y="193852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≥70%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1143000"/>
            <a:ext cx="1828800" cy="13716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216152"/>
            <a:ext cx="18288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64224" y="193852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BCI-FES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11480" y="2697480"/>
          <a:ext cx="3474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4114800" y="2697480"/>
            <a:ext cx="4617720" cy="22402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51960" y="2788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251960" y="3127248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wins for all subjects — subject-specific selection is essential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thresholds range from 0.20 to 0.48 — confirms one-size-fits-all fails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Sub-04: perfect 100% CSP+LDA offline; demonstrates classical methods remain competitive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Sub-08: 100% ShallowConvNet offline → 86% RT — small offline→RT gap confirms v2 fix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 — Selected Subjects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panel: classifier probability vs. threshold  |  Bottom: predicted class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11/14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218" b="-4218"/>
          <a:stretch/>
        </p:blipFill>
        <p:spPr>
          <a:xfrm>
            <a:off x="320040" y="1078992"/>
            <a:ext cx="274320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706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Sub-01  |  ShallowConvNet  |  68.9%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218" b="-4218"/>
          <a:stretch/>
        </p:blipFill>
        <p:spPr>
          <a:xfrm>
            <a:off x="3246120" y="1078992"/>
            <a:ext cx="2743200" cy="1627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6120" y="2706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Sub-08  |  ShallowConvNet  |  86.0% ⭐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4218" b="-4218"/>
          <a:stretch/>
        </p:blipFill>
        <p:spPr>
          <a:xfrm>
            <a:off x="6172200" y="1078992"/>
            <a:ext cx="2743200" cy="1627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2706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Sub-06  |  EEGNet  |  76.3%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218" b="-4218"/>
          <a:stretch/>
        </p:blipFill>
        <p:spPr>
          <a:xfrm>
            <a:off x="320040" y="3017520"/>
            <a:ext cx="2743200" cy="16276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0040" y="4645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Sub-04  |  CSP+LDA  |  66.8%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4218" b="-4218"/>
          <a:stretch/>
        </p:blipFill>
        <p:spPr>
          <a:xfrm>
            <a:off x="3246120" y="3017520"/>
            <a:ext cx="2743200" cy="16276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246120" y="4645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  |  EEGNet  |  78.8%</a:t>
            </a:r>
            <a:endParaRPr lang="en-US" sz="8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t="-4218" b="-4218"/>
          <a:stretch/>
        </p:blipFill>
        <p:spPr>
          <a:xfrm>
            <a:off x="6172200" y="3017520"/>
            <a:ext cx="2743200" cy="16276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172200" y="4645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Sub-11  |  CSP+LDA  |  71.2%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12/14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411480" cy="411480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cross-session evaluation is mandatory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Within-session accuracy (~85%) is inflated and meaningless for real-world deployment. Cross-session LOSO gives honest ~67–76% that tracks real-time performance.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11480" cy="411480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consistency closes the real-time gap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sliding-window buffered data (matching inference format) was the single biggest fix for real-time performance collapse in v1.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900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model selection outperforms any fixed architecture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331012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ShallowConvNet, EEGNet, and CSP+LDA each served as best model for different subjects — adaptive multi-model pipelines are necessary.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95928"/>
            <a:ext cx="411480" cy="411480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96849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 mean RT balanced accuracy across 11 subjects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5840" y="428853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 subjects exceed the 70% clinical feasibility threshold. BCI-FES integration is viable for the majority of users with this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 708 — Next Semester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feasibility to a deployable BCI-FES prototype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54864" cy="603504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University of Miami  |  BME 707 Final Presentation  |  13/14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8321040" cy="0"/>
          </a:xfrm>
          <a:prstGeom prst="line">
            <a:avLst/>
          </a:prstGeom>
          <a:noFill/>
          <a:ln w="508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856232"/>
            <a:ext cx="292608" cy="29260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417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22402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Project Update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58568" y="1856232"/>
            <a:ext cx="292608" cy="292608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37944" y="1417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10512" y="22402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Project Plan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75888" y="1856232"/>
            <a:ext cx="292608" cy="292608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55264" y="1417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27832" y="22402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Presentation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(5+5 min)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93208" y="1856232"/>
            <a:ext cx="292608" cy="29260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72584" y="1417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45152" y="22402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Report Due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10528" y="1856232"/>
            <a:ext cx="292608" cy="29260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9904" y="1417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22402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5:00–7:30 PM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927848" y="1856232"/>
            <a:ext cx="292608" cy="292608"/>
          </a:xfrm>
          <a:prstGeom prst="ellipse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07224" y="1417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79792" y="22402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Due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(approved by mentor)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2670048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2999232"/>
            <a:ext cx="2670048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" y="30175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Online Adaptive Calibration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456432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session-to-session transfer learning (Euclidean alignment or domain adaptation)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calibration time from 30 min → &lt; 5 min for clinical use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threshold drift correction using exponential moving average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64408" y="2999232"/>
            <a:ext cx="2670048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64408" y="2999232"/>
            <a:ext cx="2670048" cy="411480"/>
          </a:xfrm>
          <a:prstGeom prst="rect">
            <a:avLst/>
          </a:prstGeom>
          <a:solidFill>
            <a:srgbClr val="148F8F"/>
          </a:solidFill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37560" y="30175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FES Integration Prototype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456432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classifier output to a hardware trigger (Arduino / DAQ board)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characterisation: EEG acquisition → classification → stimulation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200 ms end-to-end for real-time FES triggering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17336" y="2999232"/>
            <a:ext cx="2670048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17336" y="2999232"/>
            <a:ext cx="2670048" cy="411480"/>
          </a:xfrm>
          <a:prstGeom prst="rect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90488" y="30175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Formal Validation &amp; Report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08776" y="3456432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leave-one-session-out validation across all 11 subjects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published benchmarks (Lawhern et al. 2018)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full MS Project Report (BME 708 format, mentor-approved)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6400800" cy="0"/>
          </a:xfrm>
          <a:prstGeom prst="line">
            <a:avLst/>
          </a:prstGeom>
          <a:noFill/>
          <a:ln w="12700">
            <a:solidFill>
              <a:srgbClr val="14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Albergo  |  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Miami — Dept. of Biomedical Engineering
BME 707 Final Progress Presentation  |  Spring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RT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3464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Subject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 Subjects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9224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Compared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9C5CA53-A43D-469C-B379-0A1EFAA1114E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1558</Words>
  <Application>Microsoft Office PowerPoint</Application>
  <PresentationFormat>On-screen Show (16:9)</PresentationFormat>
  <Paragraphs>355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MI BCI — BME 707 Final</dc:title>
  <dc:subject>PptxGenJS Presentation</dc:subject>
  <dc:creator>Giacomo Albergo</dc:creator>
  <cp:lastModifiedBy>Albergo, Giacomo</cp:lastModifiedBy>
  <cp:revision>2</cp:revision>
  <dcterms:created xsi:type="dcterms:W3CDTF">2026-04-20T21:38:31Z</dcterms:created>
  <dcterms:modified xsi:type="dcterms:W3CDTF">2026-04-20T21:46:10Z</dcterms:modified>
</cp:coreProperties>
</file>